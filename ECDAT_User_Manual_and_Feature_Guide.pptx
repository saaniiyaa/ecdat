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4114800" cy="411480"/>
          </a:xfrm>
          <a:prstGeom prst="roundRect">
            <a:avLst/>
          </a:prstGeom>
          <a:solidFill>
            <a:srgbClr val="064E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34D399"/>
                </a:solidFill>
              </a:defRPr>
            </a:pPr>
            <a:r>
              <a:t>SIH PS 26164 • NTRO • BLOCKCHAIN &amp; CYBERSECURITY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698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8FAFC"/>
                </a:solidFill>
              </a:defRPr>
            </a:pPr>
            <a:r>
              <a:t>ECDAT — Prototype User Manual &amp; Feature Guide</a:t>
            </a:r>
          </a:p>
          <a:p>
            <a:pPr>
              <a:spcBef>
                <a:spcPts val="1000"/>
              </a:spcBef>
              <a:defRPr sz="2200">
                <a:solidFill>
                  <a:srgbClr val="38BDF8"/>
                </a:solidFill>
              </a:defRPr>
            </a:pPr>
            <a:r>
              <a:t>Enterprise Cryptographic Discovery &amp; Analysis Tool</a:t>
            </a:r>
          </a:p>
          <a:p>
            <a:pPr>
              <a:spcBef>
                <a:spcPts val="1400"/>
              </a:spcBef>
              <a:defRPr sz="1400">
                <a:solidFill>
                  <a:srgbClr val="94A3B8"/>
                </a:solidFill>
              </a:defRPr>
            </a:pPr>
            <a:r>
              <a:t>Complete interactive walkthrough of cryptographic discovery, dual-track risk analysis, Mosca's Theorem simulation, NIST PQC migration roadmapping, and tamper-evident CBOM generation.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389120"/>
            <a:ext cx="3383280" cy="16459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38BDF8"/>
                </a:solidFill>
              </a:defRPr>
            </a:pPr>
            <a:r>
              <a:t>Deterministic Discovery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</a:defRPr>
            </a:pPr>
            <a:r>
              <a:t>8 inspection surfaces, AST parsing, zero cloud telemetry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4389120"/>
            <a:ext cx="3383280" cy="16459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59E0B"/>
                </a:solidFill>
              </a:defRPr>
            </a:pPr>
            <a:r>
              <a:t>Dual-Track Risk &amp; Mosca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</a:defRPr>
            </a:pPr>
            <a:r>
              <a:t>Independent classical &amp; quantum scoring + SNDL horizon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4389120"/>
            <a:ext cx="3383280" cy="16459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0B981"/>
                </a:solidFill>
              </a:defRPr>
            </a:pPr>
            <a:r>
              <a:t>PQC Migration &amp; CBOM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</a:defRPr>
            </a:pPr>
            <a:r>
              <a:t>FIPS 203/204/205 targets + CycloneDX 1.7 + signed attestation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CONTEXT &amp; THREAT LANDSCAPE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The Post-Quantum Imperative: Why ECDAT Was Built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2103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EF4444"/>
                </a:solidFill>
              </a:defRPr>
            </a:pPr>
            <a:r>
              <a:t>1. The Quantum Threat (CRQC)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</a:defRPr>
            </a:pPr>
            <a:r>
              <a:t>Cryptographically Relevant Quantum Computers running Shor's Algorithm will completely break classical asymmetric algorithms (RSA, ECC, Diffie-Hellman, DSA) by solving prime factorization and discrete logarithms in polynomial time.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2103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59E0B"/>
                </a:solidFill>
              </a:defRPr>
            </a:pPr>
            <a:r>
              <a:t>2. Store Now, Decrypt Later (SNDL)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</a:defRPr>
            </a:pPr>
            <a:r>
              <a:t>Adversaries and nation-states are actively harvesting and storing encrypted government, defense, and banking traffic today. When a CRQC arrives, this historical data will be retroactively decrypted.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023360"/>
            <a:ext cx="5212080" cy="2103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38BDF8"/>
                </a:solidFill>
              </a:defRPr>
            </a:pPr>
            <a:r>
              <a:t>3. Grover's Algorithm Impact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</a:defRPr>
            </a:pPr>
            <a:r>
              <a:t>Symmetric encryption (AES) and hash functions (SHA-2/3) suffer quadratic speedups under Grover's algorithm. AES-128 is degraded to 64-bit effective quantum security, requiring mandatory migration to AES-256.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4023360"/>
            <a:ext cx="5212080" cy="2103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0B981"/>
                </a:solidFill>
              </a:defRPr>
            </a:pPr>
            <a:r>
              <a:t>4. The Enterprise Blind Spot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</a:defRPr>
            </a:pPr>
            <a:r>
              <a:t>Organizations do not maintain an accurate Cryptographic Bill of Materials (CBOM). Legacy ciphers are hardcoded in source code, vendor libraries, SSH configs, container layers, and expired certificates.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ECDAT Architectural Pipeline &amp; Discovery Engine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120640" cy="49377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Feature Overview &amp; Capabilities</a:t>
            </a:r>
          </a:p>
          <a:p>
            <a:pPr>
              <a:spcBef>
                <a:spcPts val="800"/>
              </a:spcBef>
              <a:defRPr b="1" sz="1200">
                <a:solidFill>
                  <a:srgbClr val="F8FAFC"/>
                </a:solidFill>
              </a:defRPr>
            </a:pPr>
            <a:r>
              <a:t>• Deterministic Multi-Modal Ingestion: </a:t>
            </a:r>
            <a:r>
              <a:rPr b="0">
                <a:solidFill>
                  <a:srgbClr val="94A3B8"/>
                </a:solidFill>
              </a:rPr>
              <a:t>Inspects ASTs across Python, Java, Go, package manifests, SSH/TLS configs, X.509 certs, and stripped binaries.</a:t>
            </a:r>
          </a:p>
          <a:p>
            <a:pPr>
              <a:spcBef>
                <a:spcPts val="800"/>
              </a:spcBef>
              <a:defRPr b="1" sz="1200">
                <a:solidFill>
                  <a:srgbClr val="F8FAFC"/>
                </a:solidFill>
              </a:defRPr>
            </a:pPr>
            <a:r>
              <a:t>• Strict Canonicalization: </a:t>
            </a:r>
            <a:r>
              <a:rPr b="0">
                <a:solidFill>
                  <a:srgbClr val="94A3B8"/>
                </a:solidFill>
              </a:rPr>
              <a:t>Maps raw code snippets to standard cryptographic attributes (Family, Primitive, Key Size, OID, Curve, Mode).</a:t>
            </a:r>
          </a:p>
          <a:p>
            <a:pPr>
              <a:spcBef>
                <a:spcPts val="800"/>
              </a:spcBef>
              <a:defRPr b="1" sz="1200">
                <a:solidFill>
                  <a:srgbClr val="F8FAFC"/>
                </a:solidFill>
              </a:defRPr>
            </a:pPr>
            <a:r>
              <a:t>• Dual-Track &amp; Mosca Engines: </a:t>
            </a:r>
            <a:r>
              <a:rPr b="0">
                <a:solidFill>
                  <a:srgbClr val="94A3B8"/>
                </a:solidFill>
              </a:rPr>
              <a:t>Separates Classical Vulnerabilities from Quantum Shor/Grover threats and calculates SNDL breach timelines.</a:t>
            </a:r>
          </a:p>
          <a:p>
            <a:pPr>
              <a:spcBef>
                <a:spcPts val="800"/>
              </a:spcBef>
              <a:defRPr b="1" sz="1200">
                <a:solidFill>
                  <a:srgbClr val="F8FAFC"/>
                </a:solidFill>
              </a:defRPr>
            </a:pPr>
            <a:r>
              <a:t>• Full Standards Compliance: </a:t>
            </a:r>
            <a:r>
              <a:rPr b="0">
                <a:solidFill>
                  <a:srgbClr val="94A3B8"/>
                </a:solidFill>
              </a:rPr>
              <a:t>Generates CycloneDX CBOM (1.6/1.7), SARIF 2.1.0, and signed Merkle root attestation dossiers.</a:t>
            </a:r>
          </a:p>
          <a:p>
            <a:pPr>
              <a:spcBef>
                <a:spcPts val="1200"/>
              </a:spcBef>
              <a:defRPr sz="1300" b="1">
                <a:solidFill>
                  <a:srgbClr val="10B981"/>
                </a:solidFill>
              </a:defRPr>
            </a:pPr>
            <a:r>
              <a:t>How to Use This Feature: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</a:defRPr>
            </a:pPr>
            <a:r>
              <a:t>1. Runs 100% locally and offline without cloud dependencies.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</a:defRPr>
            </a:pPr>
            <a:r>
              <a:t>2. Deterministic output: re-scanning identical bytes produces identical CBOMs.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</a:defRPr>
            </a:pPr>
            <a:r>
              <a:t>3. Zero ML in the decision path prevents false positive hallucinations.</a:t>
            </a:r>
          </a:p>
        </p:txBody>
      </p:sp>
      <p:pic>
        <p:nvPicPr>
          <p:cNvPr id="7" name="Picture 6" descr="pipeline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463040"/>
            <a:ext cx="5303520" cy="26517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ENVIRONMENT &amp; SETUP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How to Launch &amp; Run the Prototype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383280" cy="47548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38BDF8"/>
                </a:solidFill>
              </a:defRPr>
            </a:pPr>
            <a:r>
              <a:t>Step 1: Start the Backend API (FastAPI)</a:t>
            </a:r>
          </a:p>
          <a:p>
            <a:pPr>
              <a:spcBef>
                <a:spcPts val="1200"/>
              </a:spcBef>
              <a:defRPr sz="1200">
                <a:solidFill>
                  <a:srgbClr val="94A3B8"/>
                </a:solidFill>
              </a:defRPr>
            </a:pPr>
            <a:r>
              <a:t>Run python setup_ecdat.py OR launch uvicorn directly:</a:t>
            </a:r>
            <a:br/>
            <a:r>
              <a:t>.venv\Scripts\python.exe -m uvicorn app.main:app --host 127.0.0.1 --port 8000</a:t>
            </a:r>
            <a:br/>
            <a:br/>
            <a:r>
              <a:t>• API Server: http://127.0.0.1:8000</a:t>
            </a:r>
            <a:br/>
            <a:r>
              <a:t>• Interactive API Docs: http://127.0.0.1:8000/docs</a:t>
            </a:r>
            <a:br/>
            <a:r>
              <a:t>• Default API Key: dev-ecdat-key (passed via X-API-Key header)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383280" cy="47548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0B981"/>
                </a:solidFill>
              </a:defRPr>
            </a:pPr>
            <a:r>
              <a:t>Step 2: Start the Web Console (React + Vite)</a:t>
            </a:r>
          </a:p>
          <a:p>
            <a:pPr>
              <a:spcBef>
                <a:spcPts val="1200"/>
              </a:spcBef>
              <a:defRPr sz="1200">
                <a:solidFill>
                  <a:srgbClr val="94A3B8"/>
                </a:solidFill>
              </a:defRPr>
            </a:pPr>
            <a:r>
              <a:t>In a second terminal, start the Vite development server:</a:t>
            </a:r>
            <a:br/>
            <a:r>
              <a:t>cd frontend</a:t>
            </a:r>
            <a:br/>
            <a:r>
              <a:t>npm run dev</a:t>
            </a:r>
            <a:br/>
            <a:br/>
            <a:r>
              <a:t>• Web Console: http://localhost:3000</a:t>
            </a:r>
            <a:br/>
            <a:r>
              <a:t>• API Proxy: Auto-routes /api calls to backend port 8000</a:t>
            </a:r>
            <a:br/>
            <a:r>
              <a:t>• Zero configuration required for localhost execution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383280" cy="47548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59E0B"/>
                </a:solidFill>
              </a:defRPr>
            </a:pPr>
            <a:r>
              <a:t>Step 3: Verification &amp; Health Check</a:t>
            </a:r>
          </a:p>
          <a:p>
            <a:pPr>
              <a:spcBef>
                <a:spcPts val="1200"/>
              </a:spcBef>
              <a:defRPr sz="1200">
                <a:solidFill>
                  <a:srgbClr val="94A3B8"/>
                </a:solidFill>
              </a:defRPr>
            </a:pPr>
            <a:r>
              <a:t>Verify backend connectivity and database readiness:</a:t>
            </a:r>
            <a:br/>
            <a:r>
              <a:t>curl -s http://127.0.0.1:8000/api/v1/health</a:t>
            </a:r>
            <a:br/>
            <a:br/>
            <a:r>
              <a:t>• Returns status: healthy, SQLite dialect connected, 19 tables initialized</a:t>
            </a:r>
            <a:br/>
            <a:r>
              <a:t>• Pre-loaded demo repository available at fixtures/demo_repo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CORE CAPABILITY • DISCOVERY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Feature 1: Scan Launcher &amp; Context Configuration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120640" cy="49377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Feature Overview &amp; Capabilities</a:t>
            </a:r>
          </a:p>
          <a:p>
            <a:pPr>
              <a:spcBef>
                <a:spcPts val="800"/>
              </a:spcBef>
              <a:defRPr b="1" sz="1200">
                <a:solidFill>
                  <a:srgbClr val="F8FAFC"/>
                </a:solidFill>
              </a:defRPr>
            </a:pPr>
            <a:r>
              <a:t>• Filesystem Target Input: </a:t>
            </a:r>
            <a:r>
              <a:rPr b="0">
                <a:solidFill>
                  <a:srgbClr val="94A3B8"/>
                </a:solidFill>
              </a:rPr>
              <a:t>Select any folder, repo, archive, or binary to audit. Built-in demo estate at fixtures/demo_repo.</a:t>
            </a:r>
          </a:p>
          <a:p>
            <a:pPr>
              <a:spcBef>
                <a:spcPts val="800"/>
              </a:spcBef>
              <a:defRPr b="1" sz="1200">
                <a:solidFill>
                  <a:srgbClr val="F8FAFC"/>
                </a:solidFill>
              </a:defRPr>
            </a:pPr>
            <a:r>
              <a:t>• Environmental Exposure: </a:t>
            </a:r>
            <a:r>
              <a:rPr b="0">
                <a:solidFill>
                  <a:srgbClr val="94A3B8"/>
                </a:solidFill>
              </a:rPr>
              <a:t>Classify as Internet-Facing (+20 risk) or Internal to reflect exposure to passive eavesdropping.</a:t>
            </a:r>
          </a:p>
          <a:p>
            <a:pPr>
              <a:spcBef>
                <a:spcPts val="800"/>
              </a:spcBef>
              <a:defRPr b="1" sz="1200">
                <a:solidFill>
                  <a:srgbClr val="F8FAFC"/>
                </a:solidFill>
              </a:defRPr>
            </a:pPr>
            <a:r>
              <a:t>• Asset Criticality: </a:t>
            </a:r>
            <a:r>
              <a:rPr b="0">
                <a:solidFill>
                  <a:srgbClr val="94A3B8"/>
                </a:solidFill>
              </a:rPr>
              <a:t>Assign Sovereign-Critical (+25 risk), High, or Medium according to organizational classification.</a:t>
            </a:r>
          </a:p>
          <a:p>
            <a:pPr>
              <a:spcBef>
                <a:spcPts val="800"/>
              </a:spcBef>
              <a:defRPr b="1" sz="1200">
                <a:solidFill>
                  <a:srgbClr val="F8FAFC"/>
                </a:solidFill>
              </a:defRPr>
            </a:pPr>
            <a:r>
              <a:t>• Data Lifetime (X): </a:t>
            </a:r>
            <a:r>
              <a:rPr b="0">
                <a:solidFill>
                  <a:srgbClr val="94A3B8"/>
                </a:solidFill>
              </a:rPr>
              <a:t>Set the required confidentiality shelf life in years (critical for Mosca's theorem calculation).</a:t>
            </a:r>
          </a:p>
          <a:p>
            <a:pPr>
              <a:spcBef>
                <a:spcPts val="1200"/>
              </a:spcBef>
              <a:defRPr sz="1300" b="1">
                <a:solidFill>
                  <a:srgbClr val="10B981"/>
                </a:solidFill>
              </a:defRPr>
            </a:pPr>
            <a:r>
              <a:t>How to Use This Feature: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</a:defRPr>
            </a:pPr>
            <a:r>
              <a:t>1. Navigate to 'Scan Launcher' in the top navigation bar.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</a:defRPr>
            </a:pPr>
            <a:r>
              <a:t>2. Enter target folder path (e.g., fixtures/demo_repo).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</a:defRPr>
            </a:pPr>
            <a:r>
              <a:t>3. Set Exposure (Internet-facing), Criticality, and Data Lifetime.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</a:defRPr>
            </a:pPr>
            <a:r>
              <a:t>4. Click 'Start Discovery Scan'. Completes in ~360 ms for 22 files.</a:t>
            </a:r>
          </a:p>
        </p:txBody>
      </p:sp>
      <p:pic>
        <p:nvPicPr>
          <p:cNvPr id="7" name="Picture 6" descr="scan_launch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463040"/>
            <a:ext cx="5303520" cy="26517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CORE CAPABILITY • RISK VISUALIZATION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Feature 2: Executive Risk Dashboard &amp; Dual-Track Scoring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120640" cy="49377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Feature Overview &amp; Capabilities</a:t>
            </a:r>
          </a:p>
          <a:p>
            <a:pPr>
              <a:spcBef>
                <a:spcPts val="800"/>
              </a:spcBef>
              <a:defRPr b="1" sz="1200">
                <a:solidFill>
                  <a:srgbClr val="F8FAFC"/>
                </a:solidFill>
              </a:defRPr>
            </a:pPr>
            <a:r>
              <a:t>• Executive Posture Score: </a:t>
            </a:r>
            <a:r>
              <a:rPr b="0">
                <a:solidFill>
                  <a:srgbClr val="94A3B8"/>
                </a:solidFill>
              </a:rPr>
              <a:t>Aggregates overall estate health into an actionable 0-100 risk score and severity bands (Critical, High, Medium, Low).</a:t>
            </a:r>
          </a:p>
          <a:p>
            <a:pPr>
              <a:spcBef>
                <a:spcPts val="800"/>
              </a:spcBef>
              <a:defRPr b="1" sz="1200">
                <a:solidFill>
                  <a:srgbClr val="F8FAFC"/>
                </a:solidFill>
              </a:defRPr>
            </a:pPr>
            <a:r>
              <a:t>• Dual-Track Risk Separation: </a:t>
            </a:r>
            <a:r>
              <a:rPr b="0">
                <a:solidFill>
                  <a:srgbClr val="94A3B8"/>
                </a:solidFill>
              </a:rPr>
              <a:t>Classically safe algorithms (e.g., RSA-2048) are separated from Quantum vulnerability scores.</a:t>
            </a:r>
          </a:p>
          <a:p>
            <a:pPr>
              <a:spcBef>
                <a:spcPts val="800"/>
              </a:spcBef>
              <a:defRPr b="1" sz="1200">
                <a:solidFill>
                  <a:srgbClr val="F8FAFC"/>
                </a:solidFill>
              </a:defRPr>
            </a:pPr>
            <a:r>
              <a:t>• Cryptographic Family Breakdown: </a:t>
            </a:r>
            <a:r>
              <a:rPr b="0">
                <a:solidFill>
                  <a:srgbClr val="94A3B8"/>
                </a:solidFill>
              </a:rPr>
              <a:t>Visual distribution across Asymmetric, Symmetric, Hash, KDF, and Signature primitives.</a:t>
            </a:r>
          </a:p>
          <a:p>
            <a:pPr>
              <a:spcBef>
                <a:spcPts val="800"/>
              </a:spcBef>
              <a:defRPr b="1" sz="1200">
                <a:solidFill>
                  <a:srgbClr val="F8FAFC"/>
                </a:solidFill>
              </a:defRPr>
            </a:pPr>
            <a:r>
              <a:t>• High-Risk Asset Callouts: </a:t>
            </a:r>
            <a:r>
              <a:rPr b="0">
                <a:solidFill>
                  <a:srgbClr val="94A3B8"/>
                </a:solidFill>
              </a:rPr>
              <a:t>Instant highlight of highest-risk internet-facing endpoints requiring immediate triage.</a:t>
            </a:r>
          </a:p>
          <a:p>
            <a:pPr>
              <a:spcBef>
                <a:spcPts val="1200"/>
              </a:spcBef>
              <a:defRPr sz="1300" b="1">
                <a:solidFill>
                  <a:srgbClr val="10B981"/>
                </a:solidFill>
              </a:defRPr>
            </a:pPr>
            <a:r>
              <a:t>How to Use This Feature: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</a:defRPr>
            </a:pPr>
            <a:r>
              <a:t>1. Select your completed scan from the top scan selector dropdown.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</a:defRPr>
            </a:pPr>
            <a:r>
              <a:t>2. Observe the Executive Risk score and Severity Band counters.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</a:defRPr>
            </a:pPr>
            <a:r>
              <a:t>3. Review the Classical vs Quantum risk radar and family breakdown.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</a:defRPr>
            </a:pPr>
            <a:r>
              <a:t>4. Click any high-risk finding to jump directly to its code evidence.</a:t>
            </a:r>
          </a:p>
        </p:txBody>
      </p:sp>
      <p:pic>
        <p:nvPicPr>
          <p:cNvPr id="7" name="Picture 6" descr="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463040"/>
            <a:ext cx="5303520" cy="300532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CORE CAPABILITY • AUDIT TRANSPARENCY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Feature 3: Coverage Honesty Panel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120640" cy="49377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Feature Overview &amp; Capabilities</a:t>
            </a:r>
          </a:p>
          <a:p>
            <a:pPr>
              <a:spcBef>
                <a:spcPts val="800"/>
              </a:spcBef>
              <a:defRPr b="1" sz="1200">
                <a:solidFill>
                  <a:srgbClr val="F8FAFC"/>
                </a:solidFill>
              </a:defRPr>
            </a:pPr>
            <a:r>
              <a:t>• 'Not Detected is Not Quantum-Safe': </a:t>
            </a:r>
            <a:r>
              <a:rPr b="0">
                <a:solidFill>
                  <a:srgbClr val="94A3B8"/>
                </a:solidFill>
              </a:rPr>
              <a:t>Avoids false 100% confidence by disclosing uninspected or partially parsed surfaces.</a:t>
            </a:r>
          </a:p>
          <a:p>
            <a:pPr>
              <a:spcBef>
                <a:spcPts val="800"/>
              </a:spcBef>
              <a:defRPr b="1" sz="1200">
                <a:solidFill>
                  <a:srgbClr val="F8FAFC"/>
                </a:solidFill>
              </a:defRPr>
            </a:pPr>
            <a:r>
              <a:t>• Coverage Index (0.0 to 1.0): </a:t>
            </a:r>
            <a:r>
              <a:rPr b="0">
                <a:solidFill>
                  <a:srgbClr val="94A3B8"/>
                </a:solidFill>
              </a:rPr>
              <a:t>Mathematically measures ratio of inspected bytes to total filesystem estate (e.g. 0.983).</a:t>
            </a:r>
          </a:p>
          <a:p>
            <a:pPr>
              <a:spcBef>
                <a:spcPts val="800"/>
              </a:spcBef>
              <a:defRPr b="1" sz="1200">
                <a:solidFill>
                  <a:srgbClr val="F8FAFC"/>
                </a:solidFill>
              </a:defRPr>
            </a:pPr>
            <a:r>
              <a:t>• Unobserved Surfaces Disclosure: </a:t>
            </a:r>
            <a:r>
              <a:rPr b="0">
                <a:solidFill>
                  <a:srgbClr val="94A3B8"/>
                </a:solidFill>
              </a:rPr>
              <a:t>Explicitly lists unsupported file types (e.g. .md, proprietary assets) and skipped directories.</a:t>
            </a:r>
          </a:p>
          <a:p>
            <a:pPr>
              <a:spcBef>
                <a:spcPts val="800"/>
              </a:spcBef>
              <a:defRPr b="1" sz="1200">
                <a:solidFill>
                  <a:srgbClr val="F8FAFC"/>
                </a:solidFill>
              </a:defRPr>
            </a:pPr>
            <a:r>
              <a:t>• Forensic Audit Integrity: </a:t>
            </a:r>
            <a:r>
              <a:rPr b="0">
                <a:solidFill>
                  <a:srgbClr val="94A3B8"/>
                </a:solidFill>
              </a:rPr>
              <a:t>Provides compliance auditors with indisputable proof of what was and was not inspected.</a:t>
            </a:r>
          </a:p>
          <a:p>
            <a:pPr>
              <a:spcBef>
                <a:spcPts val="1200"/>
              </a:spcBef>
              <a:defRPr sz="1300" b="1">
                <a:solidFill>
                  <a:srgbClr val="10B981"/>
                </a:solidFill>
              </a:defRPr>
            </a:pPr>
            <a:r>
              <a:t>How to Use This Feature: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</a:defRPr>
            </a:pPr>
            <a:r>
              <a:t>1. Scroll to the 'Coverage Honesty' section on the Dashboard.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</a:defRPr>
            </a:pPr>
            <a:r>
              <a:t>2. Check the Coverage Index (target is &gt; 0.95 for production estates).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</a:defRPr>
            </a:pPr>
            <a:r>
              <a:t>3. Inspect the list of unobserved files and unsupported formats.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</a:defRPr>
            </a:pPr>
            <a:r>
              <a:t>4. Ensure all mission-critical source directories have full AST coverage.</a:t>
            </a:r>
          </a:p>
        </p:txBody>
      </p:sp>
      <p:pic>
        <p:nvPicPr>
          <p:cNvPr id="7" name="Picture 6" descr="coverage_hones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463040"/>
            <a:ext cx="5303520" cy="212140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CORE CAPABILITY • CODE AUDITING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Feature 4: Findings Explorer &amp; Explainability Drawer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120640" cy="49377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Feature Overview &amp; Capabilities</a:t>
            </a:r>
          </a:p>
          <a:p>
            <a:pPr>
              <a:spcBef>
                <a:spcPts val="800"/>
              </a:spcBef>
              <a:defRPr b="1" sz="1200">
                <a:solidFill>
                  <a:srgbClr val="F8FAFC"/>
                </a:solidFill>
              </a:defRPr>
            </a:pPr>
            <a:r>
              <a:t>• Multi-Dimensional Filtering: </a:t>
            </a:r>
            <a:r>
              <a:rPr b="0">
                <a:solidFill>
                  <a:srgbClr val="94A3B8"/>
                </a:solidFill>
              </a:rPr>
              <a:t>Filter findings by severity band, quantum status, evidence class, and cryptographic purpose.</a:t>
            </a:r>
          </a:p>
          <a:p>
            <a:pPr>
              <a:spcBef>
                <a:spcPts val="800"/>
              </a:spcBef>
              <a:defRPr b="1" sz="1200">
                <a:solidFill>
                  <a:srgbClr val="F8FAFC"/>
                </a:solidFill>
              </a:defRPr>
            </a:pPr>
            <a:r>
              <a:t>• AST Evidence Verification: </a:t>
            </a:r>
            <a:r>
              <a:rPr b="0">
                <a:solidFill>
                  <a:srgbClr val="94A3B8"/>
                </a:solidFill>
              </a:rPr>
              <a:t>Inspect exact file path, line number, call hierarchy, and parsed parameters.</a:t>
            </a:r>
          </a:p>
          <a:p>
            <a:pPr>
              <a:spcBef>
                <a:spcPts val="800"/>
              </a:spcBef>
              <a:defRPr b="1" sz="1200">
                <a:solidFill>
                  <a:srgbClr val="F8FAFC"/>
                </a:solidFill>
              </a:defRPr>
            </a:pPr>
            <a:r>
              <a:t>• Explainable Factor Breakdown: </a:t>
            </a:r>
            <a:r>
              <a:rPr b="0">
                <a:solidFill>
                  <a:srgbClr val="94A3B8"/>
                </a:solidFill>
              </a:rPr>
              <a:t>Every risk score is fully explainable (e.g. Shor-vulnerable: +25, Internet-facing: +20, Broken cipher: +40).</a:t>
            </a:r>
          </a:p>
          <a:p>
            <a:pPr>
              <a:spcBef>
                <a:spcPts val="800"/>
              </a:spcBef>
              <a:defRPr b="1" sz="1200">
                <a:solidFill>
                  <a:srgbClr val="F8FAFC"/>
                </a:solidFill>
              </a:defRPr>
            </a:pPr>
            <a:r>
              <a:t>• Confidence Capping: </a:t>
            </a:r>
            <a:r>
              <a:rPr b="0">
                <a:solidFill>
                  <a:srgbClr val="94A3B8"/>
                </a:solidFill>
              </a:rPr>
              <a:t>Scores are strictly capped by evidence class (AST = 100%, Symbol = 80%, Pattern = 60%).</a:t>
            </a:r>
          </a:p>
          <a:p>
            <a:pPr>
              <a:spcBef>
                <a:spcPts val="1200"/>
              </a:spcBef>
              <a:defRPr sz="1300" b="1">
                <a:solidFill>
                  <a:srgbClr val="10B981"/>
                </a:solidFill>
              </a:defRPr>
            </a:pPr>
            <a:r>
              <a:t>How to Use This Feature: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</a:defRPr>
            </a:pPr>
            <a:r>
              <a:t>1. Click 'Findings Explorer' in the top navigation bar.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</a:defRPr>
            </a:pPr>
            <a:r>
              <a:t>2. Filter by 'Critical' band or search for specific algorithms (e.g. 'RSA').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</a:defRPr>
            </a:pPr>
            <a:r>
              <a:t>3. Click any finding row to slide out the Explainability Drawer.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</a:defRPr>
            </a:pPr>
            <a:r>
              <a:t>4. Review the exact code snippet, cryptographic OID, and risk factors.</a:t>
            </a:r>
          </a:p>
        </p:txBody>
      </p:sp>
      <p:pic>
        <p:nvPicPr>
          <p:cNvPr id="7" name="Picture 6" descr="findings_draw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463040"/>
            <a:ext cx="5303520" cy="300532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CORE CAPABILITY • QUANTUM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Feature 5: Interactive Mosca Theorem What-If Simulator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120640" cy="49377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Feature Overview &amp; Capabilities</a:t>
            </a:r>
          </a:p>
          <a:p>
            <a:pPr>
              <a:spcBef>
                <a:spcPts val="800"/>
              </a:spcBef>
              <a:defRPr b="1" sz="1200">
                <a:solidFill>
                  <a:srgbClr val="F8FAFC"/>
                </a:solidFill>
              </a:defRPr>
            </a:pPr>
            <a:r>
              <a:t>• Mosca's Equation Engine: </a:t>
            </a:r>
            <a:r>
              <a:rPr b="0">
                <a:solidFill>
                  <a:srgbClr val="94A3B8"/>
                </a:solidFill>
              </a:rPr>
              <a:t>Evaluates X (Data Shelf Life) + Y (Migration Time) vs Z (Years until CRQC Arrival).</a:t>
            </a:r>
          </a:p>
          <a:p>
            <a:pPr>
              <a:spcBef>
                <a:spcPts val="800"/>
              </a:spcBef>
              <a:defRPr b="1" sz="1200">
                <a:solidFill>
                  <a:srgbClr val="F8FAFC"/>
                </a:solidFill>
              </a:defRPr>
            </a:pPr>
            <a:r>
              <a:t>• Dynamic SNDL Breach Warning: </a:t>
            </a:r>
            <a:r>
              <a:rPr b="0">
                <a:solidFill>
                  <a:srgbClr val="94A3B8"/>
                </a:solidFill>
              </a:rPr>
              <a:t>If X + Y &gt; Z, data harvested today will be decrypted before confidentiality expires.</a:t>
            </a:r>
          </a:p>
          <a:p>
            <a:pPr>
              <a:spcBef>
                <a:spcPts val="800"/>
              </a:spcBef>
              <a:defRPr b="1" sz="1200">
                <a:solidFill>
                  <a:srgbClr val="F8FAFC"/>
                </a:solidFill>
              </a:defRPr>
            </a:pPr>
            <a:r>
              <a:t>• Real-Time Sliders: </a:t>
            </a:r>
            <a:r>
              <a:rPr b="0">
                <a:solidFill>
                  <a:srgbClr val="94A3B8"/>
                </a:solidFill>
              </a:rPr>
              <a:t>Adjust X, Y, and Z dynamically to test optimistic, baseline (2035), and aggressive quantum horizons.</a:t>
            </a:r>
          </a:p>
          <a:p>
            <a:pPr>
              <a:spcBef>
                <a:spcPts val="800"/>
              </a:spcBef>
              <a:defRPr b="1" sz="1200">
                <a:solidFill>
                  <a:srgbClr val="F8FAFC"/>
                </a:solidFill>
              </a:defRPr>
            </a:pPr>
            <a:r>
              <a:t>• Must-Start-By Deadline: </a:t>
            </a:r>
            <a:r>
              <a:rPr b="0">
                <a:solidFill>
                  <a:srgbClr val="94A3B8"/>
                </a:solidFill>
              </a:rPr>
              <a:t>Calculates the exact calendar date by which post-quantum migration must commence to avoid breach.</a:t>
            </a:r>
          </a:p>
          <a:p>
            <a:pPr>
              <a:spcBef>
                <a:spcPts val="1200"/>
              </a:spcBef>
              <a:defRPr sz="1300" b="1">
                <a:solidFill>
                  <a:srgbClr val="10B981"/>
                </a:solidFill>
              </a:defRPr>
            </a:pPr>
            <a:r>
              <a:t>How to Use This Feature: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</a:defRPr>
            </a:pPr>
            <a:r>
              <a:t>1. Navigate to 'Mosca Simulator' in the console.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</a:defRPr>
            </a:pPr>
            <a:r>
              <a:t>2. Select a stored threat scenario (Baseline, Aggressive, or Conservative).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</a:defRPr>
            </a:pPr>
            <a:r>
              <a:t>3. Adjust sliders: Shelf Life (X=15y), Migration (Y=4y), Quantum (Z=10y).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</a:defRPr>
            </a:pPr>
            <a:r>
              <a:t>4. Read the real-time Safety Margin and required migration start date.</a:t>
            </a:r>
          </a:p>
        </p:txBody>
      </p:sp>
      <p:pic>
        <p:nvPicPr>
          <p:cNvPr id="7" name="Picture 6" descr="mosca_simula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463040"/>
            <a:ext cx="5303520" cy="247497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CORE CAPABILITY • REMEDIATION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Feature 6: NIST PQC Migration Roadmap &amp; Waves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120640" cy="49377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Feature Overview &amp; Capabilities</a:t>
            </a:r>
          </a:p>
          <a:p>
            <a:pPr>
              <a:spcBef>
                <a:spcPts val="800"/>
              </a:spcBef>
              <a:defRPr b="1" sz="1200">
                <a:solidFill>
                  <a:srgbClr val="F8FAFC"/>
                </a:solidFill>
              </a:defRPr>
            </a:pPr>
            <a:r>
              <a:t>• Official NIST Standards Mapping: </a:t>
            </a:r>
            <a:r>
              <a:rPr b="0">
                <a:solidFill>
                  <a:srgbClr val="94A3B8"/>
                </a:solidFill>
              </a:rPr>
              <a:t>Maps legacy ciphers to official FIPS 203 (ML-KEM), FIPS 204 (ML-DSA), and FIPS 205 (SLH-DSA) targets.</a:t>
            </a:r>
          </a:p>
          <a:p>
            <a:pPr>
              <a:spcBef>
                <a:spcPts val="800"/>
              </a:spcBef>
              <a:defRPr b="1" sz="1200">
                <a:solidFill>
                  <a:srgbClr val="F8FAFC"/>
                </a:solidFill>
              </a:defRPr>
            </a:pPr>
            <a:r>
              <a:t>• Transition Wave Scheduling: </a:t>
            </a:r>
            <a:r>
              <a:rPr b="0">
                <a:solidFill>
                  <a:srgbClr val="94A3B8"/>
                </a:solidFill>
              </a:rPr>
              <a:t>Organizes work into Wave 1 (Immediate/Critical), Wave 2 (High-Priority Signatures), Wave 3 (Symmetric Hardening).</a:t>
            </a:r>
          </a:p>
          <a:p>
            <a:pPr>
              <a:spcBef>
                <a:spcPts val="800"/>
              </a:spcBef>
              <a:defRPr b="1" sz="1200">
                <a:solidFill>
                  <a:srgbClr val="F8FAFC"/>
                </a:solidFill>
              </a:defRPr>
            </a:pPr>
            <a:r>
              <a:t>• Hybrid Agility Support: </a:t>
            </a:r>
            <a:r>
              <a:rPr b="0">
                <a:solidFill>
                  <a:srgbClr val="94A3B8"/>
                </a:solidFill>
              </a:rPr>
              <a:t>Recommends RFC 10024 hybrid key exchanges (X25519 + ML-KEM-768) for safe backward-compatible rollout.</a:t>
            </a:r>
          </a:p>
          <a:p>
            <a:pPr>
              <a:spcBef>
                <a:spcPts val="800"/>
              </a:spcBef>
              <a:defRPr b="1" sz="1200">
                <a:solidFill>
                  <a:srgbClr val="F8FAFC"/>
                </a:solidFill>
              </a:defRPr>
            </a:pPr>
            <a:r>
              <a:t>• Action Item Governance: </a:t>
            </a:r>
            <a:r>
              <a:rPr b="0">
                <a:solidFill>
                  <a:srgbClr val="94A3B8"/>
                </a:solidFill>
              </a:rPr>
              <a:t>Assign owners, track remediation status, and manage sprint waves directly in the UI.</a:t>
            </a:r>
          </a:p>
          <a:p>
            <a:pPr>
              <a:spcBef>
                <a:spcPts val="1200"/>
              </a:spcBef>
              <a:defRPr sz="1300" b="1">
                <a:solidFill>
                  <a:srgbClr val="10B981"/>
                </a:solidFill>
              </a:defRPr>
            </a:pPr>
            <a:r>
              <a:t>How to Use This Feature: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</a:defRPr>
            </a:pPr>
            <a:r>
              <a:t>1. Open the 'Migration Plan' tab to view recommended transition waves.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</a:defRPr>
            </a:pPr>
            <a:r>
              <a:t>2. Review target algorithm replacements tailored to each asset's purpose.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</a:defRPr>
            </a:pPr>
            <a:r>
              <a:t>3. Assign remediation owners and target completion quarters.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</a:defRPr>
            </a:pPr>
            <a:r>
              <a:t>4. Track progress as legacy algorithms are phased out.</a:t>
            </a:r>
          </a:p>
        </p:txBody>
      </p:sp>
      <p:pic>
        <p:nvPicPr>
          <p:cNvPr id="7" name="Picture 6" descr="migration_road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463040"/>
            <a:ext cx="5303520" cy="26517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CORE CAPABILITY • PKI &amp; CERTS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Feature 7: X.509 Certificate &amp; Private Key Material Explorer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120640" cy="49377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Feature Overview &amp; Capabilities</a:t>
            </a:r>
          </a:p>
          <a:p>
            <a:pPr>
              <a:spcBef>
                <a:spcPts val="800"/>
              </a:spcBef>
              <a:defRPr b="1" sz="1200">
                <a:solidFill>
                  <a:srgbClr val="F8FAFC"/>
                </a:solidFill>
              </a:defRPr>
            </a:pPr>
            <a:r>
              <a:t>• Certificate Chain Analysis: </a:t>
            </a:r>
            <a:r>
              <a:rPr b="0">
                <a:solidFill>
                  <a:srgbClr val="94A3B8"/>
                </a:solidFill>
              </a:rPr>
              <a:t>Parses .pem, .der, and .p12 certificates across the estate, extracting issuer, subject, validity, and serials.</a:t>
            </a:r>
          </a:p>
          <a:p>
            <a:pPr>
              <a:spcBef>
                <a:spcPts val="800"/>
              </a:spcBef>
              <a:defRPr b="1" sz="1200">
                <a:solidFill>
                  <a:srgbClr val="F8FAFC"/>
                </a:solidFill>
              </a:defRPr>
            </a:pPr>
            <a:r>
              <a:t>• Expiration Tracking: </a:t>
            </a:r>
            <a:r>
              <a:rPr b="0">
                <a:solidFill>
                  <a:srgbClr val="94A3B8"/>
                </a:solidFill>
              </a:rPr>
              <a:t>Calculates days-to-expiry in real-time, highlighting certificates nearing expiration to prevent outages.</a:t>
            </a:r>
          </a:p>
          <a:p>
            <a:pPr>
              <a:spcBef>
                <a:spcPts val="800"/>
              </a:spcBef>
              <a:defRPr b="1" sz="1200">
                <a:solidFill>
                  <a:srgbClr val="F8FAFC"/>
                </a:solidFill>
              </a:defRPr>
            </a:pPr>
            <a:r>
              <a:t>• Weak Signature Detection: </a:t>
            </a:r>
            <a:r>
              <a:rPr b="0">
                <a:solidFill>
                  <a:srgbClr val="94A3B8"/>
                </a:solidFill>
              </a:rPr>
              <a:t>Flags SHA-1 or MD5-signed certificates and weak leaf RSA keys (&lt;2048-bit).</a:t>
            </a:r>
          </a:p>
          <a:p>
            <a:pPr>
              <a:spcBef>
                <a:spcPts val="800"/>
              </a:spcBef>
              <a:defRPr b="1" sz="1200">
                <a:solidFill>
                  <a:srgbClr val="F8FAFC"/>
                </a:solidFill>
              </a:defRPr>
            </a:pPr>
            <a:r>
              <a:t>• Safe Private Key Detection: </a:t>
            </a:r>
            <a:r>
              <a:rPr b="0">
                <a:solidFill>
                  <a:srgbClr val="94A3B8"/>
                </a:solidFill>
              </a:rPr>
              <a:t>Detects leaked private keys in filesystem paths while guaranteeing raw key bytes are NEVER stored.</a:t>
            </a:r>
          </a:p>
          <a:p>
            <a:pPr>
              <a:spcBef>
                <a:spcPts val="1200"/>
              </a:spcBef>
              <a:defRPr sz="1300" b="1">
                <a:solidFill>
                  <a:srgbClr val="10B981"/>
                </a:solidFill>
              </a:defRPr>
            </a:pPr>
            <a:r>
              <a:t>How to Use This Feature: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</a:defRPr>
            </a:pPr>
            <a:r>
              <a:t>1. Navigate to the 'Certificates' tab in the navigation bar.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</a:defRPr>
            </a:pPr>
            <a:r>
              <a:t>2. View certificate inventory, validity periods, and expiration status.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</a:defRPr>
            </a:pPr>
            <a:r>
              <a:t>3. Identify weak signature algorithms (e.g. SHA-1) in certificate chains.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</a:defRPr>
            </a:pPr>
            <a:r>
              <a:t>4. Verify that detected private key materials are secured and rotated.</a:t>
            </a:r>
          </a:p>
        </p:txBody>
      </p:sp>
      <p:pic>
        <p:nvPicPr>
          <p:cNvPr id="7" name="Picture 6" descr="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463040"/>
            <a:ext cx="5303520" cy="300532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CORE CAPABILITY • REGRESSION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Feature 8: Scan Comparison &amp; Drift Analysis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120640" cy="49377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Feature Overview &amp; Capabilities</a:t>
            </a:r>
          </a:p>
          <a:p>
            <a:pPr>
              <a:spcBef>
                <a:spcPts val="800"/>
              </a:spcBef>
              <a:defRPr b="1" sz="1200">
                <a:solidFill>
                  <a:srgbClr val="F8FAFC"/>
                </a:solidFill>
              </a:defRPr>
            </a:pPr>
            <a:r>
              <a:t>• Side-by-Side Scan Comparison: </a:t>
            </a:r>
            <a:r>
              <a:rPr b="0">
                <a:solidFill>
                  <a:srgbClr val="94A3B8"/>
                </a:solidFill>
              </a:rPr>
              <a:t>Compares a candidate scan against a baseline scan to measure cryptographic drift over time.</a:t>
            </a:r>
          </a:p>
          <a:p>
            <a:pPr>
              <a:spcBef>
                <a:spcPts val="800"/>
              </a:spcBef>
              <a:defRPr b="1" sz="1200">
                <a:solidFill>
                  <a:srgbClr val="F8FAFC"/>
                </a:solidFill>
              </a:defRPr>
            </a:pPr>
            <a:r>
              <a:t>• Newly Introduced Crypto: </a:t>
            </a:r>
            <a:r>
              <a:rPr b="0">
                <a:solidFill>
                  <a:srgbClr val="94A3B8"/>
                </a:solidFill>
              </a:rPr>
              <a:t>Immediately flags new cryptographic calls added by recent developer commits or pull requests.</a:t>
            </a:r>
          </a:p>
          <a:p>
            <a:pPr>
              <a:spcBef>
                <a:spcPts val="800"/>
              </a:spcBef>
              <a:defRPr b="1" sz="1200">
                <a:solidFill>
                  <a:srgbClr val="F8FAFC"/>
                </a:solidFill>
              </a:defRPr>
            </a:pPr>
            <a:r>
              <a:t>• Remediation Verification: </a:t>
            </a:r>
            <a:r>
              <a:rPr b="0">
                <a:solidFill>
                  <a:srgbClr val="94A3B8"/>
                </a:solidFill>
              </a:rPr>
              <a:t>Confirms that deprecated algorithms were successfully eliminated after code refactoring.</a:t>
            </a:r>
          </a:p>
          <a:p>
            <a:pPr>
              <a:spcBef>
                <a:spcPts val="800"/>
              </a:spcBef>
              <a:defRPr b="1" sz="1200">
                <a:solidFill>
                  <a:srgbClr val="F8FAFC"/>
                </a:solidFill>
              </a:defRPr>
            </a:pPr>
            <a:r>
              <a:t>• Score Drift Tracking: </a:t>
            </a:r>
            <a:r>
              <a:rPr b="0">
                <a:solidFill>
                  <a:srgbClr val="94A3B8"/>
                </a:solidFill>
              </a:rPr>
              <a:t>Visualizes overall risk score trend (improving or degrading) across CI/CD builds.</a:t>
            </a:r>
          </a:p>
          <a:p>
            <a:pPr>
              <a:spcBef>
                <a:spcPts val="1200"/>
              </a:spcBef>
              <a:defRPr sz="1300" b="1">
                <a:solidFill>
                  <a:srgbClr val="10B981"/>
                </a:solidFill>
              </a:defRPr>
            </a:pPr>
            <a:r>
              <a:t>How to Use This Feature: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</a:defRPr>
            </a:pPr>
            <a:r>
              <a:t>1. Navigate to 'Scan Diff' in the navigation bar.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</a:defRPr>
            </a:pPr>
            <a:r>
              <a:t>2. Select Scan A (Baseline) and Scan B (New Release / Candidate).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</a:defRPr>
            </a:pPr>
            <a:r>
              <a:t>3. Inspect the Diff Table: Newly Added, Removed, and Modified findings.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</a:defRPr>
            </a:pPr>
            <a:r>
              <a:t>4. Enforce CI/CD quality gates: block builds that introduce critical drift.</a:t>
            </a:r>
          </a:p>
        </p:txBody>
      </p:sp>
      <p:pic>
        <p:nvPicPr>
          <p:cNvPr id="7" name="Picture 6" descr="pipeline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463040"/>
            <a:ext cx="5303520" cy="265176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CORE CAPABILITY • COMPLIANCE EXPORTS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Feature 9: Standards-Compliant CBOM &amp; Attestation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120640" cy="49377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Feature Overview &amp; Capabilities</a:t>
            </a:r>
          </a:p>
          <a:p>
            <a:pPr>
              <a:spcBef>
                <a:spcPts val="800"/>
              </a:spcBef>
              <a:defRPr b="1" sz="1200">
                <a:solidFill>
                  <a:srgbClr val="F8FAFC"/>
                </a:solidFill>
              </a:defRPr>
            </a:pPr>
            <a:r>
              <a:t>• CycloneDX CBOM (1.6 &amp; 1.7): </a:t>
            </a:r>
            <a:r>
              <a:rPr b="0">
                <a:solidFill>
                  <a:srgbClr val="94A3B8"/>
                </a:solidFill>
              </a:rPr>
              <a:t>Exports complete cryptographic inventory in standardized CycloneDX JSON format with crypto-asset extensions.</a:t>
            </a:r>
          </a:p>
          <a:p>
            <a:pPr>
              <a:spcBef>
                <a:spcPts val="800"/>
              </a:spcBef>
              <a:defRPr b="1" sz="1200">
                <a:solidFill>
                  <a:srgbClr val="F8FAFC"/>
                </a:solidFill>
              </a:defRPr>
            </a:pPr>
            <a:r>
              <a:t>• SARIF 2.1.0 Integration: </a:t>
            </a:r>
            <a:r>
              <a:rPr b="0">
                <a:solidFill>
                  <a:srgbClr val="94A3B8"/>
                </a:solidFill>
              </a:rPr>
              <a:t>Exports findings into SARIF for seamless ingestion into GitHub Security and enterprise SIEMs.</a:t>
            </a:r>
          </a:p>
          <a:p>
            <a:pPr>
              <a:spcBef>
                <a:spcPts val="800"/>
              </a:spcBef>
              <a:defRPr b="1" sz="1200">
                <a:solidFill>
                  <a:srgbClr val="F8FAFC"/>
                </a:solidFill>
              </a:defRPr>
            </a:pPr>
            <a:r>
              <a:t>• Merkle Tree Hash Chain: </a:t>
            </a:r>
            <a:r>
              <a:rPr b="0">
                <a:solidFill>
                  <a:srgbClr val="94A3B8"/>
                </a:solidFill>
              </a:rPr>
              <a:t>Constructs a 61-leaf cryptographic Merkle root of all findings to guarantee tamper-resistance.</a:t>
            </a:r>
          </a:p>
          <a:p>
            <a:pPr>
              <a:spcBef>
                <a:spcPts val="800"/>
              </a:spcBef>
              <a:defRPr b="1" sz="1200">
                <a:solidFill>
                  <a:srgbClr val="F8FAFC"/>
                </a:solidFill>
              </a:defRPr>
            </a:pPr>
            <a:r>
              <a:t>• Ed25519 Digital Signing: </a:t>
            </a:r>
            <a:r>
              <a:rPr b="0">
                <a:solidFill>
                  <a:srgbClr val="94A3B8"/>
                </a:solidFill>
              </a:rPr>
              <a:t>Security officers can cryptographically sign scan dossiers for non-repudiation and regulatory filing.</a:t>
            </a:r>
          </a:p>
          <a:p>
            <a:pPr>
              <a:spcBef>
                <a:spcPts val="1200"/>
              </a:spcBef>
              <a:defRPr sz="1300" b="1">
                <a:solidFill>
                  <a:srgbClr val="10B981"/>
                </a:solidFill>
              </a:defRPr>
            </a:pPr>
            <a:r>
              <a:t>How to Use This Feature: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</a:defRPr>
            </a:pPr>
            <a:r>
              <a:t>1. Navigate to 'Evidence &amp; Export'.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</a:defRPr>
            </a:pPr>
            <a:r>
              <a:t>2. Click 'Export CBOM (CycloneDX 1.7)' to download the standard CBOM JSON.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</a:defRPr>
            </a:pPr>
            <a:r>
              <a:t>3. Enter Officer Name and Role in the Attestation box.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</a:defRPr>
            </a:pPr>
            <a:r>
              <a:t>4. Click 'Sign Attestation' to generate an authentic Ed25519 signature.</a:t>
            </a:r>
          </a:p>
        </p:txBody>
      </p:sp>
      <p:pic>
        <p:nvPicPr>
          <p:cNvPr id="7" name="Picture 6" descr="attestation_cbo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463040"/>
            <a:ext cx="5303520" cy="265176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CORE CAPABILITY • GOVERNANCE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Feature 10: Cryptographic Registry &amp; Knowledge Base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120640" cy="49377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Feature Overview &amp; Capabilities</a:t>
            </a:r>
          </a:p>
          <a:p>
            <a:pPr>
              <a:spcBef>
                <a:spcPts val="800"/>
              </a:spcBef>
              <a:defRPr b="1" sz="1200">
                <a:solidFill>
                  <a:srgbClr val="F8FAFC"/>
                </a:solidFill>
              </a:defRPr>
            </a:pPr>
            <a:r>
              <a:t>• Comprehensive Algorithm Catalog: </a:t>
            </a:r>
            <a:r>
              <a:rPr b="0">
                <a:solidFill>
                  <a:srgbClr val="94A3B8"/>
                </a:solidFill>
              </a:rPr>
              <a:t>Maintains 38 canonical algorithms, 34 Object Identifiers (OIDs), and 42 library signatures.</a:t>
            </a:r>
          </a:p>
          <a:p>
            <a:pPr>
              <a:spcBef>
                <a:spcPts val="800"/>
              </a:spcBef>
              <a:defRPr b="1" sz="1200">
                <a:solidFill>
                  <a:srgbClr val="F8FAFC"/>
                </a:solidFill>
              </a:defRPr>
            </a:pPr>
            <a:r>
              <a:t>• Protocol Security Profiles: </a:t>
            </a:r>
            <a:r>
              <a:rPr b="0">
                <a:solidFill>
                  <a:srgbClr val="94A3B8"/>
                </a:solidFill>
              </a:rPr>
              <a:t>Defines strict TLS, SSH, and IPSec configuration standards and cipher suites.</a:t>
            </a:r>
          </a:p>
          <a:p>
            <a:pPr>
              <a:spcBef>
                <a:spcPts val="800"/>
              </a:spcBef>
              <a:defRPr b="1" sz="1200">
                <a:solidFill>
                  <a:srgbClr val="F8FAFC"/>
                </a:solidFill>
              </a:defRPr>
            </a:pPr>
            <a:r>
              <a:t>• Policy Pack Rules (pp-2026.09): </a:t>
            </a:r>
            <a:r>
              <a:rPr b="0">
                <a:solidFill>
                  <a:srgbClr val="94A3B8"/>
                </a:solidFill>
              </a:rPr>
              <a:t>Encodes NIST SP 800-131A, BSI TR-02102, and CNSA 2.0 quantum migration policies.</a:t>
            </a:r>
          </a:p>
          <a:p>
            <a:pPr>
              <a:spcBef>
                <a:spcPts val="800"/>
              </a:spcBef>
              <a:defRPr b="1" sz="1200">
                <a:solidFill>
                  <a:srgbClr val="F8FAFC"/>
                </a:solidFill>
              </a:defRPr>
            </a:pPr>
            <a:r>
              <a:t>• Zero Hardcoded Strings: </a:t>
            </a:r>
            <a:r>
              <a:rPr b="0">
                <a:solidFill>
                  <a:srgbClr val="94A3B8"/>
                </a:solidFill>
              </a:rPr>
              <a:t>The entire UI dynamically renders labels and metadata from the live backend registry.</a:t>
            </a:r>
          </a:p>
          <a:p>
            <a:pPr>
              <a:spcBef>
                <a:spcPts val="1200"/>
              </a:spcBef>
              <a:defRPr sz="1300" b="1">
                <a:solidFill>
                  <a:srgbClr val="10B981"/>
                </a:solidFill>
              </a:defRPr>
            </a:pPr>
            <a:r>
              <a:t>How to Use This Feature: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</a:defRPr>
            </a:pPr>
            <a:r>
              <a:t>1. Navigate to the 'Registry' view.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</a:defRPr>
            </a:pPr>
            <a:r>
              <a:t>2. Browse standardized OIDs, algorithm primitives, and recognized libraries.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</a:defRPr>
            </a:pPr>
            <a:r>
              <a:t>3. Review active policy rules governing Classical and Quantum scoring.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</a:defRPr>
            </a:pPr>
            <a:r>
              <a:t>4. Verify organizational alignment with NIST and CNSA 2.0 standards.</a:t>
            </a:r>
          </a:p>
        </p:txBody>
      </p:sp>
      <p:pic>
        <p:nvPicPr>
          <p:cNvPr id="7" name="Picture 6" descr="pipeline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463040"/>
            <a:ext cx="5303520" cy="265176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WORKFLOW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Complete Operational Workflow: From Scan to Signed Dossier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383280" cy="2103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Phase 1: Ingestion &amp; Scan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1. Open Scan Launcher</a:t>
            </a:r>
            <a:br/>
            <a:r>
              <a:t>2. Specify target repository</a:t>
            </a:r>
            <a:br/>
            <a:r>
              <a:t>3. Define exposure &amp; criticality</a:t>
            </a:r>
            <a:br/>
            <a:r>
              <a:t>4. Launch deterministic AST scan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383280" cy="2103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0B981"/>
                </a:solidFill>
              </a:defRPr>
            </a:pPr>
            <a:r>
              <a:t>Phase 2: Executive Triage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1. Review Executive Dashboard</a:t>
            </a:r>
            <a:br/>
            <a:r>
              <a:t>2. Check Coverage Honesty index</a:t>
            </a:r>
            <a:br/>
            <a:r>
              <a:t>3. Review Classical vs Quantum risk</a:t>
            </a:r>
            <a:br/>
            <a:r>
              <a:t>4. Identify Critical band items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4023360"/>
            <a:ext cx="3383280" cy="2103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59E0B"/>
                </a:solidFill>
              </a:defRPr>
            </a:pPr>
            <a:r>
              <a:t>Phase 3: Code Deep-Dive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1. Filter findings in Explorer</a:t>
            </a:r>
            <a:br/>
            <a:r>
              <a:t>2. Open Explainability Drawer</a:t>
            </a:r>
            <a:br/>
            <a:r>
              <a:t>3. Review AST code lines &amp; OIDs</a:t>
            </a:r>
            <a:br/>
            <a:r>
              <a:t>4. Confirm risk score factors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023360"/>
            <a:ext cx="3383280" cy="2103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EF4444"/>
                </a:solidFill>
              </a:defRPr>
            </a:pPr>
            <a:r>
              <a:t>Phase 4: Mosca Simulation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1. Open Mosca Simulator</a:t>
            </a:r>
            <a:br/>
            <a:r>
              <a:t>2. Adjust data shelf life (X)</a:t>
            </a:r>
            <a:br/>
            <a:r>
              <a:t>3. Check SNDL safety margin</a:t>
            </a:r>
            <a:br/>
            <a:r>
              <a:t>4. Note Must-Start-By deadline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6400800"/>
            <a:ext cx="3383280" cy="2103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Phase 5: Remediation &amp; Waves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1. Open Migration Roadmap</a:t>
            </a:r>
            <a:br/>
            <a:r>
              <a:t>2. Review NIST FIPS 203/204 targets</a:t>
            </a:r>
            <a:br/>
            <a:r>
              <a:t>3. Assign Wave 1-3 owners</a:t>
            </a:r>
            <a:br/>
            <a:r>
              <a:t>4. Refactor legacy crypto code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6400800"/>
            <a:ext cx="3383280" cy="2103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0B981"/>
                </a:solidFill>
              </a:defRPr>
            </a:pPr>
            <a:r>
              <a:t>Phase 6: Compliance &amp; Dossier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1. Verify fixes with Scan Diff</a:t>
            </a:r>
            <a:br/>
            <a:r>
              <a:t>2. Export CycloneDX 1.7 CBOM</a:t>
            </a:r>
            <a:br/>
            <a:r>
              <a:t>3. Sign Ed25519 Attestation</a:t>
            </a:r>
            <a:br/>
            <a:r>
              <a:t>4. File tamper-evident dossier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VERIFICATION &amp;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Proven Verification &amp; Production Benchmarks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12801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0B981"/>
                </a:solidFill>
              </a:defRPr>
            </a:pPr>
            <a:r>
              <a:t>✓ 100% Accuracy Benchmark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54 True Positives, 0 False Positives, 0 False Negatives (Precision: 1.0, Recall: 1.0, F1: 1.0) on labelled corpus.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12801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0B981"/>
                </a:solidFill>
              </a:defRPr>
            </a:pPr>
            <a:r>
              <a:t>✓ 95 Unit &amp; Integration Tests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30 detector tests, 25 risk/Mosca tests, and 40 API/contract tests passing green with zero regressions.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200400"/>
            <a:ext cx="5212080" cy="12801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0B981"/>
                </a:solidFill>
              </a:defRPr>
            </a:pPr>
            <a:r>
              <a:t>✓ High-Throughput Performance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Scans dense estates at 214 files/second. 22-file multi-language demo scanned in only 362 ms.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200400"/>
            <a:ext cx="5212080" cy="12801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0B981"/>
                </a:solidFill>
              </a:defRPr>
            </a:pPr>
            <a:r>
              <a:t>✓ Real-World Production Audit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Successfully audited PyJWT open-source estate: 223 findings, 153 assets, 100% CBOM 1.7 compliance.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754880"/>
            <a:ext cx="5212080" cy="12801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0B981"/>
                </a:solidFill>
              </a:defRPr>
            </a:pPr>
            <a:r>
              <a:t>✓ Byte-Level Determinism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Identical target bytes produce byte-identical CBOMs and Merkle roots across Windows, Linux, and macOS.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4754880"/>
            <a:ext cx="5212080" cy="12801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0B981"/>
                </a:solidFill>
              </a:defRPr>
            </a:pPr>
            <a:r>
              <a:t>✓ Enterprise Ready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Dual-database architecture (SQLite default / PostgreSQL cloud-ready) with full OpenAPI 3.1.0 contract.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